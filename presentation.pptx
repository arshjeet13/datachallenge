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5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70" r:id="rId14"/>
    <p:sldId id="263" r:id="rId15"/>
    <p:sldId id="273" r:id="rId16"/>
    <p:sldId id="274" r:id="rId17"/>
    <p:sldId id="275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8" d="100"/>
          <a:sy n="128" d="100"/>
        </p:scale>
        <p:origin x="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22:33:42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0 109,'73'1,"78"-2,-108-2,73-1,-72 4,186-5,-68-1,55-3,-136 2,30 0,28-3,-101 6,257-9,-248 11,59-10,8-1,-39 7,54-1,-37 7,251 5,-154-4,18 0,-87 6,-112-6,0 0,0 1,13 5,1 0,-17-6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22:33:48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21,'5'0,"0"1,0 0,0 0,0 1,5 1,16 5,11-4,0-1,62-4,-30-1,252-4,-254 6,78-1,-126-1,-1-1,20-5,-21 3,1 1,21-1,282-1,-247 6,-68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22:34:01.8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2280 1,'-1466'0,"1301"7,-3-1,-307-6,470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22:34:10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1,'581'-1,"628"3,-811 8,83 1,-126-6,-2 0,-301-5,-43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22:34:12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0,'13'1,"0"0,-1 1,0 1,16 4,12 3,19 0,62 3,62-6,16 2,-113 1,-51-4,54 1,59 0,-93-4,-38-3,0 1,-1 1,1 0,30 9,-29-5,0-1,-1 0,2-2,-1 0,0-1,23 0,138-2,-170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22:34:17.6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0,'12'1,"0"1,0 0,0 1,-1 0,14 5,14 4,47 8,130 12,92-18,143-15,-357 6,5 1,430-6,-520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22:34:19.4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75,'58'-3,"61"-10,16-1,97 10,-33 2,341-5,-432 7,21-5,5 0,351 5,-467-1,-1-1,35-7,-19 2,-15 5,-10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19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6186-822A-67EC-0EAE-083816D3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571BC-A4BE-4F20-0D09-1DF0F7C1B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84F59-494D-0910-350F-80BB45A01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C5942-82CB-26F0-B8D8-FCBB02EBE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95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A14D9-1E20-3921-8C3F-F2CD179C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8C567-E14F-3464-316A-C99B42E78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589E-F49E-A4F0-EF42-A695B58C7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21C49-D305-CBBC-8F68-85A1D4B9E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37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8BEB-1048-760E-9037-DC88C2AC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012BC-ADF9-82FD-518D-0D063C7E7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B6BD4-D149-C41D-826C-AC0EF387A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9AD48-D0FC-6A09-65DC-18E9AD983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42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275D-5AAB-12D3-3F25-93FB4D4B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DDCBF-2266-420F-46AC-C1A99DD28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71B7A-90F2-A8F6-ACCB-42805A6FC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AF5DB-741F-7C2A-8CE9-B3C8072EB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26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CCE9-10B6-30EC-BEED-5DAA31062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C213C-5517-FAA4-8AC1-D07DA093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8D5D1-F7BF-838C-F074-798342686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834AA-8BE4-6A0A-C83B-DAC4F7B95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15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C448-44CE-35AD-8647-B9821F8B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0C634-E8BB-B42C-66A4-B9798E8EB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B6D23-CC1C-C477-598E-AA3C49F6F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9F61B-5472-455F-B09A-2636BE7D6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55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88BE-C416-4E90-73BF-1DEDE7B4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7F801-E272-BB15-F0E0-67457AFA1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B925E-8DE1-AFA7-E8F1-EF0AB3E33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3E461-4592-C5D4-2ED1-F91A08755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7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Survival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2004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Consulting Report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" y="2724912"/>
            <a:ext cx="4114800" cy="27432"/>
          </a:xfrm>
          <a:prstGeom prst="rect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Data Challenge  |  UW–Madison Statistics Club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3840480"/>
            <a:ext cx="22860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2004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63240" y="3840480"/>
            <a:ext cx="22860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32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06324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840480"/>
            <a:ext cx="22860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80644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363"/>
            <a:ext cx="9144000" cy="4480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8627" y="-1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&amp;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91" y="84582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8627" y="845820"/>
            <a:ext cx="5029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8627" y="11201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2987" y="9372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restaurant attributes are most associated with survival?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2987" y="15041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1a - Attribute Selection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1b - Dashboard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8627" y="208026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627" y="2080260"/>
            <a:ext cx="5029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627" y="23545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2987" y="21717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whether a restaurant is currently open or closed?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2987" y="27386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Predictive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92067" y="84582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92067" y="845820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067" y="11658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56,293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92067" y="15590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Businesses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03747" y="84582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03747" y="845820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3747" y="11658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03747" y="15590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92067" y="208026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92067" y="2080260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067" y="24003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748K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92067" y="27934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03747" y="208026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03747" y="2080260"/>
            <a:ext cx="18288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3747" y="24003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68K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03747" y="27934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Records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C3B6752-BAF3-96E4-3470-FECD2BE8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6" y="3223260"/>
            <a:ext cx="6671341" cy="19171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54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5 files into one table per restaurant. Engineered recency, velocity, quality, and attribute features — 55 total features.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93392" y="822960"/>
            <a:ext cx="1554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822960"/>
            <a:ext cx="1554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84832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96312" y="2011680"/>
            <a:ext cx="5486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correlation test removed avg_reviewer_experience (residual r = 0.037 after controlling for time).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12464" y="822960"/>
            <a:ext cx="1554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822960"/>
            <a:ext cx="1554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03904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15384" y="2011680"/>
            <a:ext cx="548640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(300 trees, lr=0.05, depth=6) on 80/20 stratified split. Preserves 80/20 class imbalance.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31536" y="822960"/>
            <a:ext cx="1554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31536" y="822960"/>
            <a:ext cx="1554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22976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34456" y="2011680"/>
            <a:ext cx="5486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feature attribution. Each feature's contribution quantified across all predictions.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50608" y="822960"/>
            <a:ext cx="1554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822960"/>
            <a:ext cx="15544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42048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53528" y="2011680"/>
            <a:ext cx="54864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214884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confirms robustness. Attribute analysis uses class-stratified prevalence rates.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973AB-29AF-1782-4433-5A20E260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ABB668-C4B8-99EE-D777-C8F7AEECB28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201414-DEC1-7900-77FE-D588D04AAE52}"/>
              </a:ext>
            </a:extLst>
          </p:cNvPr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8F2651-7FDA-2D4F-8794-3F38C8080907}"/>
              </a:ext>
            </a:extLst>
          </p:cNvPr>
          <p:cNvSpPr/>
          <p:nvPr/>
        </p:nvSpPr>
        <p:spPr>
          <a:xfrm>
            <a:off x="27432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355054-2790-40CC-6205-AC47CE15CEC2}"/>
              </a:ext>
            </a:extLst>
          </p:cNvPr>
          <p:cNvSpPr/>
          <p:nvPr/>
        </p:nvSpPr>
        <p:spPr>
          <a:xfrm>
            <a:off x="1993392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41319C1-8670-3DA1-79CA-50DAC3AC85DD}"/>
              </a:ext>
            </a:extLst>
          </p:cNvPr>
          <p:cNvSpPr/>
          <p:nvPr/>
        </p:nvSpPr>
        <p:spPr>
          <a:xfrm>
            <a:off x="3712464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AE5CD8E0-865B-29E2-CCB8-B9020E9F836E}"/>
              </a:ext>
            </a:extLst>
          </p:cNvPr>
          <p:cNvSpPr/>
          <p:nvPr/>
        </p:nvSpPr>
        <p:spPr>
          <a:xfrm>
            <a:off x="374904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60D534A-08B7-A7DD-D510-D585DF42B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" y="640080"/>
            <a:ext cx="4972819" cy="207527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9B23361-A135-F0B0-EE1D-AC3112704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15350"/>
            <a:ext cx="8034652" cy="161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6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CD58-D218-266F-10E4-29A19424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E8C35E-2046-3EEB-6D2D-6DC1272D511E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992716-F519-5C88-D4D8-C6F31A10CB2E}"/>
              </a:ext>
            </a:extLst>
          </p:cNvPr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8D8E6-190B-1A65-E502-C5FFDCFAE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20" y="731520"/>
            <a:ext cx="7351214" cy="43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3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Activity Recency Drives Survival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that people stopped reviewing and visiting is almost certainly closed — </a:t>
            </a: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its star rating.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2048813" y="240598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−0.730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2048813" y="288147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−0.686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2048813" y="335696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−0.470</a:t>
            </a:r>
            <a:endParaRPr lang="en-US" sz="1200" dirty="0"/>
          </a:p>
        </p:txBody>
      </p:sp>
      <p:sp>
        <p:nvSpPr>
          <p:cNvPr id="35" name="Text 20"/>
          <p:cNvSpPr/>
          <p:nvPr/>
        </p:nvSpPr>
        <p:spPr>
          <a:xfrm>
            <a:off x="2048813" y="383245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+0.128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2048813" y="430793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+0.017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494333" y="1994506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27"/>
          <p:cNvSpPr/>
          <p:nvPr/>
        </p:nvSpPr>
        <p:spPr>
          <a:xfrm>
            <a:off x="540053" y="201279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Makes Sense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631493" y="2451706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business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people keep reviewing → low days_since_last_review
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business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reviews stop → high days_since_last_review
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a lagging indicator. Activity recency is the leading signal.</a:t>
            </a:r>
            <a:endParaRPr lang="en-US" sz="12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AE18B98C-2512-D346-1A8B-AFDEDABEDBE7}"/>
              </a:ext>
            </a:extLst>
          </p:cNvPr>
          <p:cNvSpPr/>
          <p:nvPr/>
        </p:nvSpPr>
        <p:spPr>
          <a:xfrm>
            <a:off x="6583680" y="2331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−0.730</a:t>
            </a:r>
            <a:endParaRPr lang="en-US" sz="12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B4897BDC-77EE-0C90-56C9-52519984086E}"/>
              </a:ext>
            </a:extLst>
          </p:cNvPr>
          <p:cNvSpPr/>
          <p:nvPr/>
        </p:nvSpPr>
        <p:spPr>
          <a:xfrm>
            <a:off x="6583680" y="28072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−0.686</a:t>
            </a:r>
            <a:endParaRPr lang="en-US" sz="12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70688669-4560-A7F0-DD97-00A82C7CC722}"/>
              </a:ext>
            </a:extLst>
          </p:cNvPr>
          <p:cNvSpPr/>
          <p:nvPr/>
        </p:nvSpPr>
        <p:spPr>
          <a:xfrm>
            <a:off x="6583680" y="32826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−0.470</a:t>
            </a:r>
            <a:endParaRPr lang="en-US" sz="12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03590812-083E-3F9C-B2C5-4FABEF6982F7}"/>
              </a:ext>
            </a:extLst>
          </p:cNvPr>
          <p:cNvSpPr/>
          <p:nvPr/>
        </p:nvSpPr>
        <p:spPr>
          <a:xfrm>
            <a:off x="6583680" y="37581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+0.128</a:t>
            </a:r>
            <a:endParaRPr lang="en-US" sz="12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E7F254FD-F593-345C-8154-32BC42828159}"/>
              </a:ext>
            </a:extLst>
          </p:cNvPr>
          <p:cNvSpPr/>
          <p:nvPr/>
        </p:nvSpPr>
        <p:spPr>
          <a:xfrm>
            <a:off x="6583680" y="4233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+0.017</a:t>
            </a:r>
            <a:endParaRPr lang="en-US" sz="1200" dirty="0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0C4A6ECD-7CAF-E05B-13D1-E6836076C2F8}"/>
              </a:ext>
            </a:extLst>
          </p:cNvPr>
          <p:cNvSpPr/>
          <p:nvPr/>
        </p:nvSpPr>
        <p:spPr>
          <a:xfrm>
            <a:off x="5029200" y="192024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9E81BF6D-FADD-77D6-0719-410A54A99AAD}"/>
              </a:ext>
            </a:extLst>
          </p:cNvPr>
          <p:cNvSpPr/>
          <p:nvPr/>
        </p:nvSpPr>
        <p:spPr>
          <a:xfrm>
            <a:off x="5120640" y="2405986"/>
            <a:ext cx="3749040" cy="1893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us the idea that the features may not linearly relate with our target. This motivates the use of a non linear training model further on, since there is a chance that several features provide a strong signal only when considered together</a:t>
            </a:r>
            <a:endParaRPr lang="en-US" sz="130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E85BE727-5896-647E-1108-B818D94E903B}"/>
              </a:ext>
            </a:extLst>
          </p:cNvPr>
          <p:cNvSpPr/>
          <p:nvPr/>
        </p:nvSpPr>
        <p:spPr>
          <a:xfrm>
            <a:off x="5166360" y="23774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2128B-54B3-85E9-F8FB-A6037715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FD1A92-B67B-1CFA-9A48-7BC5F649F084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03B0FF-9BA1-E794-4103-D831E4021D2C}"/>
              </a:ext>
            </a:extLst>
          </p:cNvPr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Detection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92C587-DF66-6C00-D83C-6076C99F8E10}"/>
              </a:ext>
            </a:extLst>
          </p:cNvPr>
          <p:cNvSpPr/>
          <p:nvPr/>
        </p:nvSpPr>
        <p:spPr>
          <a:xfrm>
            <a:off x="52913" y="731520"/>
            <a:ext cx="9026103" cy="435628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32722F-9C1C-C929-1326-F4CD79578A32}"/>
              </a:ext>
            </a:extLst>
          </p:cNvPr>
          <p:cNvSpPr/>
          <p:nvPr/>
        </p:nvSpPr>
        <p:spPr>
          <a:xfrm>
            <a:off x="136928" y="1144389"/>
            <a:ext cx="3236141" cy="365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avg_reviewer_experience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appeared to have -0.496 correlation — promising on the surface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a partial correlation test, residualizing it against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days_since_last_review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correlation dropped to 0.037, which confirmed leakage. Closed businesses stopped getting reviews earlier, so their reviewers have been on Yelp longer by definition. The feature was encoding when a business closed, not anything meaningful about reviewer quality. Excluded from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F2BFAC-78B1-0428-456D-1AFA02F89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084" y="1224865"/>
            <a:ext cx="5411205" cy="336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Robustness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2024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777240"/>
            <a:ext cx="192024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(5-Fold CV)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777240"/>
            <a:ext cx="192024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±0.0005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(Cross-Validation)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7772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777240"/>
            <a:ext cx="192024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4114800" cy="1234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663440" y="2423160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2423160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24414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ROC-AUC?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754880" y="283464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businesses are open.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'open' for everything achieves 80% accuracy while being completely useless.
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the probability of correctly ranking a random open business above a random closed one, immune to class imbalance.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82880" y="475810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scores: [0.98145, 0.98192, 0.98180, 0.98188, 0.98300] — consistent across all splits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244F-19D9-439C-0329-872DEE69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04F060-2898-5865-FD04-434267B98BE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FEBFF9-1369-E311-ECAE-60CC47BB2DEE}"/>
              </a:ext>
            </a:extLst>
          </p:cNvPr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Robustness</a:t>
            </a:r>
            <a:endParaRPr lang="en-US" sz="22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A0DF777-2ADF-F1D3-49F2-8B6926E4C750}"/>
              </a:ext>
            </a:extLst>
          </p:cNvPr>
          <p:cNvSpPr/>
          <p:nvPr/>
        </p:nvSpPr>
        <p:spPr>
          <a:xfrm>
            <a:off x="182880" y="475810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scores: [0.98145, 0.98192, 0.98180, 0.98188, 0.98300] — consistent across all splits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93C24E0-9CC3-2633-AEFA-7D4A60926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347" y="731520"/>
            <a:ext cx="3914640" cy="405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32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Recommendations (Part 1a)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3776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10972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9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Delivery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36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72.9%  |  Closed: 37.0%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3898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+35.8%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03120"/>
            <a:ext cx="10972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57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Thru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67.3%  |  Closed: 26.2%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2585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+41.1%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10972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26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82.0%  |  Closed: 64.4%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1272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+17.6%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40480"/>
            <a:ext cx="10972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Kids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86.1%  |  Closed: 80.4%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9959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37760" y="123444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1234440"/>
            <a:ext cx="10972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289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Hour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1636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60.7%  |  Closed: 78.8%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1389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−18.1%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937760" y="210312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2103120"/>
            <a:ext cx="10972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157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29.1%  |  Closed: 40.4%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22585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−11.4%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937760" y="297180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2971800"/>
            <a:ext cx="10972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026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(Full Bar)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19.6%  |  Closed: 28.3%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80960" y="31272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−8.7%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663440" y="3840480"/>
            <a:ext cx="41148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913632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sit-down dining models (bars, reservations, happy hour) carry measurably higher closure risk than accessible, convenience-oriented formats.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computed within each class separately to control for 80/20 class imbalance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4399-F38D-D9CD-3232-935E1503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A941A2-E502-DDCA-AC9B-2072774A2E3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299A80-7A36-860B-25F7-E1BE9DA2E8B6}"/>
              </a:ext>
            </a:extLst>
          </p:cNvPr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Recommendations (Part 1a)</a:t>
            </a:r>
            <a:endParaRPr lang="en-US" sz="2200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61427B58-F3B5-30FE-2772-EF37AAAEFE90}"/>
              </a:ext>
            </a:extLst>
          </p:cNvPr>
          <p:cNvSpPr/>
          <p:nvPr/>
        </p:nvSpPr>
        <p:spPr>
          <a:xfrm>
            <a:off x="52913" y="731520"/>
            <a:ext cx="9026103" cy="435628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DC47E077-EBEF-5A43-A2C4-965CFD4A1015}"/>
              </a:ext>
            </a:extLst>
          </p:cNvPr>
          <p:cNvSpPr/>
          <p:nvPr/>
        </p:nvSpPr>
        <p:spPr>
          <a:xfrm>
            <a:off x="136928" y="1144389"/>
            <a:ext cx="8844615" cy="365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For binary attributes, Pearson correlation doesn't apply cleanly — both variables are 0/1. So we developed a more direct approach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Computed attribute prevalence separately within open and closed restaurants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This gives P(attribute | open) vs P(attribute | closed) — directly answering the business question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We controlled for the 80/20 class imbalance by computing rates within each class, not raw counts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This doesn't contradict the non-linearity argument</a:t>
            </a:r>
            <a:r>
              <a:rPr lang="en-US" sz="1600" dirty="0">
                <a:solidFill>
                  <a:schemeClr val="bg1"/>
                </a:solidFill>
              </a:rPr>
              <a:t> — correlation measures linear relationships between continuous variables. This is a descriptive conditional probability — no linearity assumption involved.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4158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Two-Model Validation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55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521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8122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recency features (days since last review, check-in, tip). Used for competition submission.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Activity-Stripped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features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0789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00600" y="1545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7282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time-based recency proxies. Validates that attributes have standalone predictive power.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26B6AB6-4461-6D3C-9CC6-D1A87D27B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6" y="1865376"/>
            <a:ext cx="4079524" cy="318668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B9F1D59-963D-55A4-DF84-D358C1EE8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57984"/>
            <a:ext cx="4125244" cy="29855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1C3667D-9C4E-2411-844D-80E70371DA8C}"/>
                  </a:ext>
                </a:extLst>
              </p14:cNvPr>
              <p14:cNvContentPartPr/>
              <p14:nvPr/>
            </p14:nvContentPartPr>
            <p14:xfrm>
              <a:off x="5232915" y="2541820"/>
              <a:ext cx="1150200" cy="39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1C3667D-9C4E-2411-844D-80E70371DA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78915" y="2434180"/>
                <a:ext cx="12578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55C7F05-BC11-BB78-3D05-B5D5A5206918}"/>
                  </a:ext>
                </a:extLst>
              </p14:cNvPr>
              <p14:cNvContentPartPr/>
              <p14:nvPr/>
            </p14:nvContentPartPr>
            <p14:xfrm>
              <a:off x="5865795" y="3764380"/>
              <a:ext cx="499320" cy="15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55C7F05-BC11-BB78-3D05-B5D5A52069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2155" y="3656740"/>
                <a:ext cx="60696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8F0F633-64F9-0CFD-5281-46AA7DC58C8D}"/>
                  </a:ext>
                </a:extLst>
              </p14:cNvPr>
              <p14:cNvContentPartPr/>
              <p14:nvPr/>
            </p14:nvContentPartPr>
            <p14:xfrm>
              <a:off x="5564115" y="4302580"/>
              <a:ext cx="820800" cy="5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8F0F633-64F9-0CFD-5281-46AA7DC58C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10475" y="4194940"/>
                <a:ext cx="928440" cy="22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B0A16-254D-2329-C14E-5CEAAB7B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A07286-D9AE-735D-27AB-6BCF522D93EB}"/>
              </a:ext>
            </a:extLst>
          </p:cNvPr>
          <p:cNvSpPr/>
          <p:nvPr/>
        </p:nvSpPr>
        <p:spPr>
          <a:xfrm>
            <a:off x="-53340" y="-146304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C1A936-8963-3787-168C-3FCCB4CFD647}"/>
              </a:ext>
            </a:extLst>
          </p:cNvPr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Attributes only model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503327-980A-FDC4-9789-323A1CD5A697}"/>
              </a:ext>
            </a:extLst>
          </p:cNvPr>
          <p:cNvSpPr/>
          <p:nvPr/>
        </p:nvSpPr>
        <p:spPr>
          <a:xfrm>
            <a:off x="365760" y="114833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FCA5F3-570B-E4BF-FD6C-18FAB56842BE}"/>
              </a:ext>
            </a:extLst>
          </p:cNvPr>
          <p:cNvSpPr/>
          <p:nvPr/>
        </p:nvSpPr>
        <p:spPr>
          <a:xfrm>
            <a:off x="348122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6DE45FE-1EE2-8687-201F-4045B8905A24}"/>
              </a:ext>
            </a:extLst>
          </p:cNvPr>
          <p:cNvSpPr/>
          <p:nvPr/>
        </p:nvSpPr>
        <p:spPr>
          <a:xfrm>
            <a:off x="4754880" y="736092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8FAA2F-3645-9A48-AACB-5E63985AFD26}"/>
              </a:ext>
            </a:extLst>
          </p:cNvPr>
          <p:cNvSpPr/>
          <p:nvPr/>
        </p:nvSpPr>
        <p:spPr>
          <a:xfrm>
            <a:off x="484632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Activity-Stripped Model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7C3BB3F-6956-D4AC-0251-380DBEB4DBE1}"/>
              </a:ext>
            </a:extLst>
          </p:cNvPr>
          <p:cNvSpPr/>
          <p:nvPr/>
        </p:nvSpPr>
        <p:spPr>
          <a:xfrm>
            <a:off x="4800600" y="10789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0.8353</a:t>
            </a:r>
            <a:endParaRPr lang="en-US" sz="3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1A5BAD7-9C11-D73F-3689-7ECEBD82D907}"/>
              </a:ext>
            </a:extLst>
          </p:cNvPr>
          <p:cNvSpPr/>
          <p:nvPr/>
        </p:nvSpPr>
        <p:spPr>
          <a:xfrm>
            <a:off x="4800600" y="1545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5302C6F-9741-0F00-3614-71FD10E58E51}"/>
              </a:ext>
            </a:extLst>
          </p:cNvPr>
          <p:cNvSpPr/>
          <p:nvPr/>
        </p:nvSpPr>
        <p:spPr>
          <a:xfrm>
            <a:off x="4846320" y="17282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time-based recency proxies. Validates that attributes have standalone predictive power.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746E8A7-3A11-D84E-6C19-AC535A68D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48640"/>
            <a:ext cx="4322729" cy="5143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E69A87B-5C43-6D29-B9E6-0BB2949F6DF3}"/>
                  </a:ext>
                </a:extLst>
              </p14:cNvPr>
              <p14:cNvContentPartPr/>
              <p14:nvPr/>
            </p14:nvContentPartPr>
            <p14:xfrm>
              <a:off x="838290" y="833940"/>
              <a:ext cx="1238040" cy="12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E69A87B-5C43-6D29-B9E6-0BB2949F6D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4290" y="725940"/>
                <a:ext cx="13456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8491748-62C1-8C13-F17F-FC7E6B0869EF}"/>
                  </a:ext>
                </a:extLst>
              </p14:cNvPr>
              <p14:cNvContentPartPr/>
              <p14:nvPr/>
            </p14:nvContentPartPr>
            <p14:xfrm>
              <a:off x="1527690" y="1303020"/>
              <a:ext cx="556200" cy="50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8491748-62C1-8C13-F17F-FC7E6B0869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3690" y="1195020"/>
                <a:ext cx="6638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96CD7C2-576F-6FAE-F4BE-A6B7C7A59213}"/>
                  </a:ext>
                </a:extLst>
              </p14:cNvPr>
              <p14:cNvContentPartPr/>
              <p14:nvPr/>
            </p14:nvContentPartPr>
            <p14:xfrm>
              <a:off x="1363890" y="2842020"/>
              <a:ext cx="689760" cy="38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96CD7C2-576F-6FAE-F4BE-A6B7C7A592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09890" y="2734020"/>
                <a:ext cx="7974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62B8CC0-EF1A-0DB9-4FC3-7E1F6559B1FD}"/>
                  </a:ext>
                </a:extLst>
              </p14:cNvPr>
              <p14:cNvContentPartPr/>
              <p14:nvPr/>
            </p14:nvContentPartPr>
            <p14:xfrm>
              <a:off x="1211250" y="3562020"/>
              <a:ext cx="822960" cy="27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62B8CC0-EF1A-0DB9-4FC3-7E1F6559B1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7610" y="3454380"/>
                <a:ext cx="930600" cy="24264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317250DF-43FE-0AA8-C9AA-D89CBF7EEC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8042" y="2148062"/>
            <a:ext cx="3637318" cy="299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6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A020">
              <a:alpha val="8000"/>
            </a:srgbClr>
          </a:solidFill>
          <a:ln w="12700">
            <a:solidFill>
              <a:srgbClr val="E8A02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2984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delivery, drive-thru, and family-friendly features — not formal dining infrastructure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9568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survival via review &amp; check-in recency — stronger early warning than star ratings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achieves 0.98 AUC with strong cross-validation consistency (±0.0005)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2735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confirmed as top attribute by both ratio analysis AND stripped-model SHAP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77840" y="868680"/>
            <a:ext cx="3291840" cy="39319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960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Tautology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Closed businesses stop getting reviews by definition , recency is partly a proxy, not purely predictive.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Restaurant Gap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restaurants with no activity history, attribute-based features carry greater practical weight.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Scope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Results reflect specific metro areas — may not generalize to all regions.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A73C2-1939-181B-22BB-14341F88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18"/>
            <a:ext cx="9144000" cy="493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4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947A63-E655-73F7-0734-A1F0A8200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832" y="0"/>
            <a:ext cx="49243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07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E4D11-114E-37E9-499E-EA1B51993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760"/>
            <a:ext cx="91440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59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9A82A-6692-8AAD-B9D4-28A5F424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DECCFBD-2C00-9234-F854-A29FE979C8B0}"/>
              </a:ext>
            </a:extLst>
          </p:cNvPr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A020">
              <a:alpha val="8000"/>
            </a:srgbClr>
          </a:solidFill>
          <a:ln w="12700">
            <a:solidFill>
              <a:srgbClr val="E8A020">
                <a:alpha val="800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007793-FB30-E9BE-894C-49E9B61975DE}"/>
              </a:ext>
            </a:extLst>
          </p:cNvPr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756803-88D9-F5DF-9BAE-25669AE196B1}"/>
              </a:ext>
            </a:extLst>
          </p:cNvPr>
          <p:cNvSpPr/>
          <p:nvPr/>
        </p:nvSpPr>
        <p:spPr>
          <a:xfrm>
            <a:off x="365760" y="868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DDEA6F6-A840-CD90-D7D1-672F4B744C60}"/>
              </a:ext>
            </a:extLst>
          </p:cNvPr>
          <p:cNvSpPr/>
          <p:nvPr/>
        </p:nvSpPr>
        <p:spPr>
          <a:xfrm>
            <a:off x="365760" y="135331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90B816-074E-EE72-FCA0-2A796947BAA4}"/>
              </a:ext>
            </a:extLst>
          </p:cNvPr>
          <p:cNvSpPr/>
          <p:nvPr/>
        </p:nvSpPr>
        <p:spPr>
          <a:xfrm>
            <a:off x="36576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3A7358-3AAF-004F-0C5F-5A327316063B}"/>
              </a:ext>
            </a:extLst>
          </p:cNvPr>
          <p:cNvSpPr/>
          <p:nvPr/>
        </p:nvSpPr>
        <p:spPr>
          <a:xfrm>
            <a:off x="731520" y="12984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Parse the hours column</a:t>
            </a:r>
            <a:r>
              <a:rPr lang="en-US" sz="1200" dirty="0"/>
              <a:t> Operating hours were never used as features. Features like "open on weekends", "open past 10pm", or "total weekly hours" likely carry meaningful survival signal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F3BBDF9-4604-ADF0-5946-084BDD33B53B}"/>
              </a:ext>
            </a:extLst>
          </p:cNvPr>
          <p:cNvSpPr/>
          <p:nvPr/>
        </p:nvSpPr>
        <p:spPr>
          <a:xfrm>
            <a:off x="365760" y="2264664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C027B0-E049-5D48-D78B-A3BC62C772AE}"/>
              </a:ext>
            </a:extLst>
          </p:cNvPr>
          <p:cNvSpPr/>
          <p:nvPr/>
        </p:nvSpPr>
        <p:spPr>
          <a:xfrm>
            <a:off x="365760" y="2264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FE8AB6-C364-D80B-C01F-FF3338A04692}"/>
              </a:ext>
            </a:extLst>
          </p:cNvPr>
          <p:cNvSpPr/>
          <p:nvPr/>
        </p:nvSpPr>
        <p:spPr>
          <a:xfrm>
            <a:off x="731520" y="22098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NLP on review text</a:t>
            </a:r>
            <a:r>
              <a:rPr lang="en-US" sz="1200" dirty="0"/>
              <a:t> We used review metadata (stars, votes, dates) but never the actual text. 5.3 million reviews contain rich signal — sentiment trends, keywords like "under new management" or "going downhill", and topic shifts over time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56F75BA-4ABB-8CCD-1AE3-F764305E2150}"/>
              </a:ext>
            </a:extLst>
          </p:cNvPr>
          <p:cNvSpPr/>
          <p:nvPr/>
        </p:nvSpPr>
        <p:spPr>
          <a:xfrm>
            <a:off x="365760" y="3429000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24165D-9CEF-B7B3-244F-337F21ACE688}"/>
              </a:ext>
            </a:extLst>
          </p:cNvPr>
          <p:cNvSpPr/>
          <p:nvPr/>
        </p:nvSpPr>
        <p:spPr>
          <a:xfrm>
            <a:off x="36576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502644-C93F-3DF1-5D6B-3EC0CF7B5852}"/>
              </a:ext>
            </a:extLst>
          </p:cNvPr>
          <p:cNvSpPr/>
          <p:nvPr/>
        </p:nvSpPr>
        <p:spPr>
          <a:xfrm>
            <a:off x="731520" y="33741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Review velocity as a time series</a:t>
            </a:r>
            <a:r>
              <a:rPr lang="en-US" sz="1200" dirty="0"/>
              <a:t> We engineered a static </a:t>
            </a:r>
            <a:r>
              <a:rPr lang="en-US" sz="1200" dirty="0" err="1"/>
              <a:t>reviews_per_month</a:t>
            </a:r>
            <a:r>
              <a:rPr lang="en-US" sz="1200" dirty="0"/>
              <a:t> average. A more powerful signal would be modeling the </a:t>
            </a:r>
            <a:r>
              <a:rPr lang="en-US" sz="1200" i="1" dirty="0"/>
              <a:t>trend</a:t>
            </a:r>
            <a:r>
              <a:rPr lang="en-US" sz="1200" dirty="0"/>
              <a:t> — is velocity accelerating or decelerating? A restaurant dropping from 20 reviews/month to 2 reviews/month over 6 months tells a very different story than one consistently at 2 reviews/month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CA63B7-34A5-6724-9024-4BE2200F60FD}"/>
              </a:ext>
            </a:extLst>
          </p:cNvPr>
          <p:cNvSpPr/>
          <p:nvPr/>
        </p:nvSpPr>
        <p:spPr>
          <a:xfrm>
            <a:off x="36576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476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418</TotalTime>
  <Words>1168</Words>
  <Application>Microsoft Office PowerPoint</Application>
  <PresentationFormat>On-screen Show (16:9)</PresentationFormat>
  <Paragraphs>192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Survival Analysis</dc:title>
  <dc:subject>PptxGenJS Presentation</dc:subject>
  <dc:creator>PptxGenJS</dc:creator>
  <cp:lastModifiedBy>Arshjeet Singh Bajwa</cp:lastModifiedBy>
  <cp:revision>4</cp:revision>
  <dcterms:created xsi:type="dcterms:W3CDTF">2026-03-16T19:50:14Z</dcterms:created>
  <dcterms:modified xsi:type="dcterms:W3CDTF">2026-03-17T03:16:00Z</dcterms:modified>
</cp:coreProperties>
</file>